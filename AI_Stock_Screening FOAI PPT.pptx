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3" r:id="rId3"/>
    <p:sldId id="258" r:id="rId4"/>
    <p:sldId id="260" r:id="rId5"/>
    <p:sldId id="264" r:id="rId6"/>
    <p:sldId id="265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822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74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103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70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4754880" cy="475488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108960"/>
            <a:ext cx="2926080" cy="2926080"/>
          </a:xfrm>
          <a:prstGeom prst="ellipse">
            <a:avLst/>
          </a:prstGeom>
          <a:solidFill>
            <a:srgbClr val="00C2A8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572000"/>
            <a:ext cx="3474720" cy="3474720"/>
          </a:xfrm>
          <a:prstGeom prst="ellipse">
            <a:avLst/>
          </a:prstGeom>
          <a:solidFill>
            <a:srgbClr val="4C6FFF">
              <a:alpha val="12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·  FINANCIAL TECHNOLOGY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9692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Stock Screening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Analysis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intelligent, unified decision-support system combining fundamental, technical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sentiment analysis — optimized with the Steepest-Ascent Hill Climbing algorithm.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4206240" cy="0"/>
          </a:xfrm>
          <a:prstGeom prst="line">
            <a:avLst/>
          </a:prstGeom>
          <a:noFill/>
          <a:ln w="19050">
            <a:solidFill>
              <a:srgbClr val="00C2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5029200"/>
            <a:ext cx="6949440" cy="1234440"/>
          </a:xfrm>
          <a:prstGeom prst="roundRect">
            <a:avLst>
              <a:gd name="adj" fmla="val 5926"/>
            </a:avLst>
          </a:prstGeom>
          <a:solidFill>
            <a:srgbClr val="1B245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5120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53949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Danyl Enoch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240701092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53949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Mohideen Abdul Kader M L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240701329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092440" y="502920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kern="0" spc="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
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Steepest-Ascent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 Climbing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2026–2027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051560"/>
            <a:ext cx="1005840" cy="0"/>
          </a:xfrm>
          <a:prstGeom prst="line">
            <a:avLst/>
          </a:prstGeom>
          <a:noFill/>
          <a:ln w="25400">
            <a:solidFill>
              <a:srgbClr val="AB85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10881360" cy="4892040"/>
          </a:xfrm>
          <a:prstGeom prst="roundRect">
            <a:avLst>
              <a:gd name="adj" fmla="val 1308"/>
            </a:avLst>
          </a:prstGeom>
          <a:solidFill>
            <a:srgbClr val="FFFFFF"/>
          </a:solidFill>
          <a:ln w="12700">
            <a:solidFill>
              <a:srgbClr val="DEE2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37360"/>
            <a:ext cx="100584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today must evaluate large volumes of stocks before making sound investment decisions, but traditional analysis demands in-depth manual study of financial statements, historical prices, market trends, and technical indicators. This kind of manual evaluation, spread across fragmented tools and data sources, is time-consuming and complex — particularly for beginners.</a:t>
            </a:r>
            <a:endParaRPr lang="en-US" sz="1350" dirty="0"/>
          </a:p>
          <a:p>
            <a:pPr marL="0" indent="0" algn="l">
              <a:lnSpc>
                <a:spcPct val="135000"/>
              </a:lnSpc>
              <a:buNone/>
            </a:pPr>
            <a:endParaRPr lang="en-US" sz="13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proposes an intelligent, unified system that leverages artificial intelligence and data-driven techniques to screen and analyze equities efficiently. Rather than relying on scattered, single-purpose tools, the system integrates fundamental analysis, technical analysis, and news sentiment analysis (NLP) into a single interface, computing automated scores, rankings, and plain-language explanations for each stock.</a:t>
            </a:r>
            <a:endParaRPr lang="en-US" sz="1350" dirty="0"/>
          </a:p>
          <a:p>
            <a:pPr marL="0" indent="0" algn="l">
              <a:lnSpc>
                <a:spcPct val="135000"/>
              </a:lnSpc>
              <a:buNone/>
            </a:pPr>
            <a:endParaRPr lang="en-US" sz="13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core of the analytical engine is the Steepest-Ascent Hill Climbing algorithm, a local-search optimization technique that iteratively moves toward the neighboring state offering the steepest improvement in score — allowing the system to converge efficiently on strong-performing stock rankings. The result is a scalable, explainable decision-support tool intended to reduce manual screening effort and make multi-factor analysis accessible to investors of all experience levels — offering insight, not guaranteed returns.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696295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approaches to stock screening and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5F2"/>
            </a:solidFill>
            <a:prstDash val="solid"/>
          </a:ln>
          <a:effectLst>
            <a:outerShdw blurRad="127000" dist="25400" dir="5400000" algn="bl" rotWithShape="0">
              <a:srgbClr val="8792B5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673352"/>
            <a:ext cx="502920" cy="502920"/>
          </a:xfrm>
          <a:prstGeom prst="ellipse">
            <a:avLst/>
          </a:prstGeom>
          <a:solidFill>
            <a:srgbClr val="121A3E"/>
          </a:solidFill>
          <a:ln/>
        </p:spPr>
      </p:sp>
      <p:pic>
        <p:nvPicPr>
          <p:cNvPr id="6" name="Image 0" descr="assets/icon_chart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1751076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96112" y="228600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Stock Screening Systems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788920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screeners filter assets using rule-based metrics such as Market Capitalization, P/E, P/B, revenue growth, and dividend yield to narrow down candidates.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62272" y="141732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5F2"/>
            </a:solidFill>
            <a:prstDash val="solid"/>
          </a:ln>
          <a:effectLst>
            <a:outerShdw blurRad="127000" dist="25400" dir="5400000" algn="bl" rotWithShape="0">
              <a:srgbClr val="8792B5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18304" y="1673352"/>
            <a:ext cx="502920" cy="502920"/>
          </a:xfrm>
          <a:prstGeom prst="ellipse">
            <a:avLst/>
          </a:prstGeom>
          <a:solidFill>
            <a:srgbClr val="121A3E"/>
          </a:solidFill>
          <a:ln/>
        </p:spPr>
      </p:sp>
      <p:pic>
        <p:nvPicPr>
          <p:cNvPr id="11" name="Image 1" descr="assets/icon_chart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028" y="1751076"/>
            <a:ext cx="347472" cy="34747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18304" y="228600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Technical Analysis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718304" y="2788920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price action and volume trends using indicators like Moving Averages, RSI, and MACD to evaluate historical patterns.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84464" y="141732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5F2"/>
            </a:solidFill>
            <a:prstDash val="solid"/>
          </a:ln>
          <a:effectLst>
            <a:outerShdw blurRad="127000" dist="25400" dir="5400000" algn="bl" rotWithShape="0">
              <a:srgbClr val="8792B5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0496" y="1673352"/>
            <a:ext cx="502920" cy="502920"/>
          </a:xfrm>
          <a:prstGeom prst="ellipse">
            <a:avLst/>
          </a:prstGeom>
          <a:solidFill>
            <a:srgbClr val="121A3E"/>
          </a:solidFill>
          <a:ln/>
        </p:spPr>
      </p:sp>
      <p:pic>
        <p:nvPicPr>
          <p:cNvPr id="16" name="Image 2" descr="assets/icon_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8220" y="1751076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40496" y="228600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Machine Learning in Stock Analysis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540496" y="2788920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and classification models (Linear Regression, Decision Trees, Random Forest) identify underlying non-linear patterns in financial data.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005072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5F2"/>
            </a:solidFill>
            <a:prstDash val="solid"/>
          </a:ln>
          <a:effectLst>
            <a:outerShdw blurRad="127000" dist="25400" dir="5400000" algn="bl" rotWithShape="0">
              <a:srgbClr val="8792B5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4261104"/>
            <a:ext cx="502920" cy="502920"/>
          </a:xfrm>
          <a:prstGeom prst="ellipse">
            <a:avLst/>
          </a:prstGeom>
          <a:solidFill>
            <a:srgbClr val="121A3E"/>
          </a:solidFill>
          <a:ln/>
        </p:spPr>
      </p:sp>
      <p:pic>
        <p:nvPicPr>
          <p:cNvPr id="21" name="Image 3" descr="assets/icon_newspap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36" y="4338828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96112" y="4873752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Sentiment Analysis (NLP)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896112" y="5376672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financial news, corporate reports, and media text to classify sentiment as positive, neutral, or negative.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462272" y="4005072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121A3E"/>
          </a:solidFill>
          <a:ln w="12700">
            <a:solidFill>
              <a:srgbClr val="121A3E"/>
            </a:solidFill>
            <a:prstDash val="solid"/>
          </a:ln>
          <a:effectLst>
            <a:outerShdw blurRad="127000" dist="25400" dir="5400000" algn="bl" rotWithShape="0">
              <a:srgbClr val="8792B5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18304" y="4261104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6" name="Image 4" descr="assets/icon_mount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6028" y="4338828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718304" y="4873752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Steepest-Ascent Hill Climbing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4718304" y="5376672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local-search optimization technique that iteratively moves to the neighboring state with the steepest score improvement — used here to optimize stock-scoring weights toward the best-ranked candidates.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284464" y="4005072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5F2"/>
            </a:solidFill>
            <a:prstDash val="solid"/>
          </a:ln>
          <a:effectLst>
            <a:outerShdw blurRad="127000" dist="25400" dir="5400000" algn="bl" rotWithShape="0">
              <a:srgbClr val="8792B5">
                <a:alpha val="1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40496" y="4261104"/>
            <a:ext cx="502920" cy="502920"/>
          </a:xfrm>
          <a:prstGeom prst="ellipse">
            <a:avLst/>
          </a:prstGeom>
          <a:solidFill>
            <a:srgbClr val="121A3E"/>
          </a:solidFill>
          <a:ln/>
        </p:spPr>
      </p:sp>
      <p:pic>
        <p:nvPicPr>
          <p:cNvPr id="31" name="Image 5" descr="assets/icon_balan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8220" y="4338828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540496" y="4873752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Decision Support &amp; Research Gap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8540496" y="5376672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existing platforms rely on manual filters across disconnected tools without explainable AI. Solution: a unified platform integrating screening, technicals, fundamentals, and AI-driven explanations.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Seven-layer pipeline: from user input to AI-generated insight</a:t>
            </a:r>
            <a:endParaRPr lang="en-US" sz="1250" dirty="0"/>
          </a:p>
        </p:txBody>
      </p:sp>
      <p:pic>
        <p:nvPicPr>
          <p:cNvPr id="4" name="Image 0" descr="assets/arch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234440"/>
            <a:ext cx="3794760" cy="5330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70432" y="1225296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Layer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170432" y="150876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of stock tickers, screening preferences, and custom filter criteria.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2029968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70432" y="197510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Layer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1170432" y="225856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/ mobile dashboard for interaction and visualization.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" y="2779776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170432" y="272491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Layer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1170432" y="3008376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of market prices, financial statements, trading volume, and news text.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40080" y="3529584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170432" y="347472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Layer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1170432" y="3758184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normalization, and feature engineering.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40080" y="4279392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0080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170432" y="422452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Analysis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1170432" y="450799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· Technical · Sentiment (NLP) analysis modules run in parallel.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4008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170432" y="4974336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Engine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1170432" y="525780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combination, pattern analysis, and stock scoring / ranking generation.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40080" y="5779008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40080" y="5779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1170432" y="572414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Reports Layer</a:t>
            </a:r>
            <a:endParaRPr lang="en-US" sz="1350" dirty="0"/>
          </a:p>
        </p:txBody>
      </p:sp>
      <p:sp>
        <p:nvSpPr>
          <p:cNvPr id="32" name="Text 29"/>
          <p:cNvSpPr txBox="1"/>
          <p:nvPr/>
        </p:nvSpPr>
        <p:spPr>
          <a:xfrm>
            <a:off x="1170432" y="600760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stock scores, comparative charts, indicators, and AI-generated explanations.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functional modules that make up the analysis engine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1005840" cy="0"/>
          </a:xfrm>
          <a:prstGeom prst="line">
            <a:avLst/>
          </a:prstGeom>
          <a:noFill/>
          <a:ln w="25400">
            <a:solidFill>
              <a:srgbClr val="AB8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525780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EE2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892808"/>
            <a:ext cx="548640" cy="548640"/>
          </a:xfrm>
          <a:prstGeom prst="ellipse">
            <a:avLst/>
          </a:prstGeom>
          <a:solidFill>
            <a:srgbClr val="16223D"/>
          </a:solidFill>
          <a:ln/>
        </p:spPr>
      </p:sp>
      <p:pic>
        <p:nvPicPr>
          <p:cNvPr id="7" name="Image 0" descr="assets/icon_chart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00253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89280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Analysis Module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932688" y="2651760"/>
            <a:ext cx="4672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4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financial ratios, earnings, and balance-sheet metrics to gauge a company's underlying financial health.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25780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EE2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56248" y="1892808"/>
            <a:ext cx="548640" cy="548640"/>
          </a:xfrm>
          <a:prstGeom prst="ellipse">
            <a:avLst/>
          </a:prstGeom>
          <a:solidFill>
            <a:srgbClr val="16223D"/>
          </a:solidFill>
          <a:ln/>
        </p:spPr>
      </p:sp>
      <p:pic>
        <p:nvPicPr>
          <p:cNvPr id="12" name="Image 1" descr="assets/icon_chart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2002536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69480" y="189280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Analysis Module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6556248" y="2651760"/>
            <a:ext cx="4672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4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moving averages, RSI, MACD, and price/volume dynamics to evaluate historical trading patterns.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251960"/>
            <a:ext cx="525780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EE2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32688" y="4544568"/>
            <a:ext cx="548640" cy="548640"/>
          </a:xfrm>
          <a:prstGeom prst="ellipse">
            <a:avLst/>
          </a:prstGeom>
          <a:solidFill>
            <a:srgbClr val="16223D"/>
          </a:solidFill>
          <a:ln/>
        </p:spPr>
      </p:sp>
      <p:pic>
        <p:nvPicPr>
          <p:cNvPr id="17" name="Image 2" descr="assets/icon_newspap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4654296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45920" y="454456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Module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932688" y="5303520"/>
            <a:ext cx="4672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4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NLP to financial news, corporate reports, and media text, classifying sentiment as positive, neutral, or negative.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63640" y="4251960"/>
            <a:ext cx="525780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EE2E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56248" y="4544568"/>
            <a:ext cx="548640" cy="548640"/>
          </a:xfrm>
          <a:prstGeom prst="ellipse">
            <a:avLst/>
          </a:prstGeom>
          <a:solidFill>
            <a:srgbClr val="16223D"/>
          </a:solidFill>
          <a:ln/>
        </p:spPr>
      </p:sp>
      <p:pic>
        <p:nvPicPr>
          <p:cNvPr id="22" name="Image 3" descr="assets/icon_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976" y="4654296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269480" y="454456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Engine Module</a:t>
            </a:r>
            <a:endParaRPr lang="en-US" sz="1450" dirty="0"/>
          </a:p>
        </p:txBody>
      </p:sp>
      <p:sp>
        <p:nvSpPr>
          <p:cNvPr id="24" name="Text 18"/>
          <p:cNvSpPr txBox="1"/>
          <p:nvPr/>
        </p:nvSpPr>
        <p:spPr>
          <a:xfrm>
            <a:off x="6556248" y="5303520"/>
            <a:ext cx="4672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4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features from all three branches — using Random Forest, RNN/sentiment models, classification, and pattern analysis, optimized via Steepest-Ascent Hill Climbing — to generate stock scores and rankings.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716230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ultimately receives from the system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1005840" cy="0"/>
          </a:xfrm>
          <a:prstGeom prst="line">
            <a:avLst/>
          </a:prstGeom>
          <a:noFill/>
          <a:ln w="25400">
            <a:solidFill>
              <a:srgbClr val="AB8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6035040" cy="4572000"/>
          </a:xfrm>
          <a:prstGeom prst="roundRect">
            <a:avLst>
              <a:gd name="adj" fmla="val 1400"/>
            </a:avLst>
          </a:prstGeom>
          <a:solidFill>
            <a:srgbClr val="FFFFFF"/>
          </a:solidFill>
          <a:ln w="12700">
            <a:solidFill>
              <a:srgbClr val="DEE2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011680"/>
            <a:ext cx="502920" cy="502920"/>
          </a:xfrm>
          <a:prstGeom prst="ellipse">
            <a:avLst/>
          </a:prstGeom>
          <a:solidFill>
            <a:srgbClr val="16223D"/>
          </a:solidFill>
          <a:ln/>
        </p:spPr>
      </p:sp>
      <p:pic>
        <p:nvPicPr>
          <p:cNvPr id="7" name="Image 0" descr="assets/icon_file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121408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0299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Reports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914400" y="2843784"/>
            <a:ext cx="91440" cy="91440"/>
          </a:xfrm>
          <a:prstGeom prst="ellipse">
            <a:avLst/>
          </a:prstGeom>
          <a:solidFill>
            <a:srgbClr val="AB855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88720" y="267004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Score / Ranking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96265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5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composite, weighted score for each stock, ranked for easy comparison.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14400" y="3685032"/>
            <a:ext cx="91440" cy="91440"/>
          </a:xfrm>
          <a:prstGeom prst="ellipse">
            <a:avLst/>
          </a:prstGeom>
          <a:solidFill>
            <a:srgbClr val="AB855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351129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Charts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380390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5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comparisons of price trends, indicators, and multi-factor scores.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14400" y="4526280"/>
            <a:ext cx="91440" cy="91440"/>
          </a:xfrm>
          <a:prstGeom prst="ellipse">
            <a:avLst/>
          </a:prstGeom>
          <a:solidFill>
            <a:srgbClr val="AB855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88720" y="435254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464515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5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and fundamental indicators surfaced alongside each result.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14400" y="5367528"/>
            <a:ext cx="91440" cy="91440"/>
          </a:xfrm>
          <a:prstGeom prst="ellipse">
            <a:avLst/>
          </a:prstGeom>
          <a:solidFill>
            <a:srgbClr val="AB8555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188720" y="519379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Explanations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54864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5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summaries explaining why a stock received its score.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903720" y="1737360"/>
            <a:ext cx="4663440" cy="4572000"/>
          </a:xfrm>
          <a:prstGeom prst="roundRect">
            <a:avLst>
              <a:gd name="adj" fmla="val 1400"/>
            </a:avLst>
          </a:prstGeom>
          <a:solidFill>
            <a:srgbClr val="16223D"/>
          </a:solidFill>
          <a:ln/>
        </p:spPr>
      </p:sp>
      <p:sp>
        <p:nvSpPr>
          <p:cNvPr id="22" name="Shape 19"/>
          <p:cNvSpPr/>
          <p:nvPr/>
        </p:nvSpPr>
        <p:spPr>
          <a:xfrm>
            <a:off x="7178040" y="2011680"/>
            <a:ext cx="502920" cy="502920"/>
          </a:xfrm>
          <a:prstGeom prst="ellipse">
            <a:avLst/>
          </a:prstGeom>
          <a:solidFill>
            <a:srgbClr val="AB8555"/>
          </a:solidFill>
          <a:ln/>
        </p:spPr>
      </p:sp>
      <p:pic>
        <p:nvPicPr>
          <p:cNvPr id="23" name="Image 1" descr="assets/icon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768" y="2121408"/>
            <a:ext cx="292608" cy="292608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818120" y="20299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Dashboard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7178040" y="274320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6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output layer consolidates every module's results into one visualization: a responsive web and mobile dashboard where the investor can browse ranked stocks, drill into individual scores, and read the AI-generated reasoning behind each ranking — all in one place.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7178040" y="4572000"/>
            <a:ext cx="4114800" cy="0"/>
          </a:xfrm>
          <a:prstGeom prst="line">
            <a:avLst/>
          </a:prstGeom>
          <a:noFill/>
          <a:ln w="12700">
            <a:solidFill>
              <a:srgbClr val="3C4664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71780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7178040" y="50292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and decision support — not financial advice.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73503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4937760" cy="493776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00C2A8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4688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Stock Screening and Analysis — Questions &amp; Discussion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069080"/>
            <a:ext cx="3657600" cy="0"/>
          </a:xfrm>
          <a:prstGeom prst="line">
            <a:avLst/>
          </a:prstGeom>
          <a:noFill/>
          <a:ln w="19050">
            <a:solidFill>
              <a:srgbClr val="00C2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3434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Danyl Enoch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240701092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43434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Mohideen Abdul Kader M L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240701329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309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tool is for analytical and decision support — not financial advice.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846</Words>
  <Application>Microsoft Office PowerPoint</Application>
  <PresentationFormat>Widescreen</PresentationFormat>
  <Paragraphs>96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2</cp:revision>
  <dcterms:created xsi:type="dcterms:W3CDTF">2026-09-22T03:00:18Z</dcterms:created>
  <dcterms:modified xsi:type="dcterms:W3CDTF">2026-09-22T03:24:42Z</dcterms:modified>
</cp:coreProperties>
</file>